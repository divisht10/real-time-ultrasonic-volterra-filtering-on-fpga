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1"/>
  </p:sldMasterIdLst>
  <p:sldIdLst>
    <p:sldId id="256" r:id="rId2"/>
    <p:sldId id="260" r:id="rId3"/>
    <p:sldId id="264" r:id="rId4"/>
    <p:sldId id="257" r:id="rId5"/>
    <p:sldId id="258" r:id="rId6"/>
    <p:sldId id="259" r:id="rId7"/>
    <p:sldId id="261" r:id="rId8"/>
    <p:sldId id="262" r:id="rId9"/>
    <p:sldId id="263" r:id="rId10"/>
    <p:sldId id="267" r:id="rId11"/>
    <p:sldId id="266"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96" d="100"/>
          <a:sy n="96" d="100"/>
        </p:scale>
        <p:origin x="86"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FD676-DDA8-6D97-717A-4ECB5B4C6F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E569965-2B51-EDC9-7715-7E8752EEC1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0B1C904-6A20-9207-E253-4EDFFC54D810}"/>
              </a:ext>
            </a:extLst>
          </p:cNvPr>
          <p:cNvSpPr>
            <a:spLocks noGrp="1"/>
          </p:cNvSpPr>
          <p:nvPr>
            <p:ph type="dt" sz="half" idx="10"/>
          </p:nvPr>
        </p:nvSpPr>
        <p:spPr/>
        <p:txBody>
          <a:bodyPr/>
          <a:lstStyle/>
          <a:p>
            <a:fld id="{315C717F-B076-4CA4-9411-100B8B95BDE6}" type="datetimeFigureOut">
              <a:rPr lang="en-IN" smtClean="0"/>
              <a:t>17-04-2026</a:t>
            </a:fld>
            <a:endParaRPr lang="en-IN"/>
          </a:p>
        </p:txBody>
      </p:sp>
      <p:sp>
        <p:nvSpPr>
          <p:cNvPr id="5" name="Footer Placeholder 4">
            <a:extLst>
              <a:ext uri="{FF2B5EF4-FFF2-40B4-BE49-F238E27FC236}">
                <a16:creationId xmlns:a16="http://schemas.microsoft.com/office/drawing/2014/main" id="{E4A24DAF-2502-2458-4E6E-2C55648A96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DF8D42-5D4B-A178-72F3-10F1557BB5D7}"/>
              </a:ext>
            </a:extLst>
          </p:cNvPr>
          <p:cNvSpPr>
            <a:spLocks noGrp="1"/>
          </p:cNvSpPr>
          <p:nvPr>
            <p:ph type="sldNum" sz="quarter" idx="12"/>
          </p:nvPr>
        </p:nvSpPr>
        <p:spPr/>
        <p:txBody>
          <a:bodyPr/>
          <a:lstStyle/>
          <a:p>
            <a:fld id="{D4CA840D-9877-4052-BCEE-82CFEE379B1A}" type="slidenum">
              <a:rPr lang="en-IN" smtClean="0"/>
              <a:t>‹#›</a:t>
            </a:fld>
            <a:endParaRPr lang="en-IN"/>
          </a:p>
        </p:txBody>
      </p:sp>
    </p:spTree>
    <p:extLst>
      <p:ext uri="{BB962C8B-B14F-4D97-AF65-F5344CB8AC3E}">
        <p14:creationId xmlns:p14="http://schemas.microsoft.com/office/powerpoint/2010/main" val="2042586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A2C86-7030-2583-F5B0-481A76E2DDB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968F371-1E96-77A8-54B5-A60EB6EB12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DDF9A6-77CF-B6F2-381D-6876C820B614}"/>
              </a:ext>
            </a:extLst>
          </p:cNvPr>
          <p:cNvSpPr>
            <a:spLocks noGrp="1"/>
          </p:cNvSpPr>
          <p:nvPr>
            <p:ph type="dt" sz="half" idx="10"/>
          </p:nvPr>
        </p:nvSpPr>
        <p:spPr/>
        <p:txBody>
          <a:bodyPr/>
          <a:lstStyle/>
          <a:p>
            <a:fld id="{315C717F-B076-4CA4-9411-100B8B95BDE6}" type="datetimeFigureOut">
              <a:rPr lang="en-IN" smtClean="0"/>
              <a:t>17-04-2026</a:t>
            </a:fld>
            <a:endParaRPr lang="en-IN"/>
          </a:p>
        </p:txBody>
      </p:sp>
      <p:sp>
        <p:nvSpPr>
          <p:cNvPr id="5" name="Footer Placeholder 4">
            <a:extLst>
              <a:ext uri="{FF2B5EF4-FFF2-40B4-BE49-F238E27FC236}">
                <a16:creationId xmlns:a16="http://schemas.microsoft.com/office/drawing/2014/main" id="{7D6AA9B5-BEF4-21EF-604E-F594716F41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24CC7C-CCB2-7DF3-9AD5-5299FAAA5760}"/>
              </a:ext>
            </a:extLst>
          </p:cNvPr>
          <p:cNvSpPr>
            <a:spLocks noGrp="1"/>
          </p:cNvSpPr>
          <p:nvPr>
            <p:ph type="sldNum" sz="quarter" idx="12"/>
          </p:nvPr>
        </p:nvSpPr>
        <p:spPr/>
        <p:txBody>
          <a:bodyPr/>
          <a:lstStyle/>
          <a:p>
            <a:fld id="{D4CA840D-9877-4052-BCEE-82CFEE379B1A}" type="slidenum">
              <a:rPr lang="en-IN" smtClean="0"/>
              <a:t>‹#›</a:t>
            </a:fld>
            <a:endParaRPr lang="en-IN"/>
          </a:p>
        </p:txBody>
      </p:sp>
    </p:spTree>
    <p:extLst>
      <p:ext uri="{BB962C8B-B14F-4D97-AF65-F5344CB8AC3E}">
        <p14:creationId xmlns:p14="http://schemas.microsoft.com/office/powerpoint/2010/main" val="2389123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5EACB-CBDF-AE2A-D9D1-2524B9A548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C4E646C-9A88-5518-E417-3CA5AB4D8A7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CB0E1F-B8B1-6C6A-17AC-472CE1A3BFA2}"/>
              </a:ext>
            </a:extLst>
          </p:cNvPr>
          <p:cNvSpPr>
            <a:spLocks noGrp="1"/>
          </p:cNvSpPr>
          <p:nvPr>
            <p:ph type="dt" sz="half" idx="10"/>
          </p:nvPr>
        </p:nvSpPr>
        <p:spPr/>
        <p:txBody>
          <a:bodyPr/>
          <a:lstStyle/>
          <a:p>
            <a:fld id="{315C717F-B076-4CA4-9411-100B8B95BDE6}" type="datetimeFigureOut">
              <a:rPr lang="en-IN" smtClean="0"/>
              <a:t>17-04-2026</a:t>
            </a:fld>
            <a:endParaRPr lang="en-IN"/>
          </a:p>
        </p:txBody>
      </p:sp>
      <p:sp>
        <p:nvSpPr>
          <p:cNvPr id="5" name="Footer Placeholder 4">
            <a:extLst>
              <a:ext uri="{FF2B5EF4-FFF2-40B4-BE49-F238E27FC236}">
                <a16:creationId xmlns:a16="http://schemas.microsoft.com/office/drawing/2014/main" id="{7B3DD046-40B3-DFE1-15B0-294D2B6EC6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4539BB-D559-EEAD-9AD5-9B85BD1FA580}"/>
              </a:ext>
            </a:extLst>
          </p:cNvPr>
          <p:cNvSpPr>
            <a:spLocks noGrp="1"/>
          </p:cNvSpPr>
          <p:nvPr>
            <p:ph type="sldNum" sz="quarter" idx="12"/>
          </p:nvPr>
        </p:nvSpPr>
        <p:spPr/>
        <p:txBody>
          <a:bodyPr/>
          <a:lstStyle/>
          <a:p>
            <a:fld id="{D4CA840D-9877-4052-BCEE-82CFEE379B1A}" type="slidenum">
              <a:rPr lang="en-IN" smtClean="0"/>
              <a:t>‹#›</a:t>
            </a:fld>
            <a:endParaRPr lang="en-IN"/>
          </a:p>
        </p:txBody>
      </p:sp>
    </p:spTree>
    <p:extLst>
      <p:ext uri="{BB962C8B-B14F-4D97-AF65-F5344CB8AC3E}">
        <p14:creationId xmlns:p14="http://schemas.microsoft.com/office/powerpoint/2010/main" val="15259085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061D4-8524-4CEE-9E9D-D5FA0CB61C6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2DADAFB-F547-97F5-D7AC-3B8AE02AA3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02590E4-64BB-9275-C696-31F76611BA4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FF7AF5E-89C4-1EB0-4223-A11282183DCF}"/>
              </a:ext>
            </a:extLst>
          </p:cNvPr>
          <p:cNvSpPr>
            <a:spLocks noGrp="1"/>
          </p:cNvSpPr>
          <p:nvPr>
            <p:ph type="dt" sz="half" idx="10"/>
          </p:nvPr>
        </p:nvSpPr>
        <p:spPr/>
        <p:txBody>
          <a:bodyPr/>
          <a:lstStyle/>
          <a:p>
            <a:fld id="{315C717F-B076-4CA4-9411-100B8B95BDE6}" type="datetimeFigureOut">
              <a:rPr lang="en-IN" smtClean="0"/>
              <a:t>17-04-2026</a:t>
            </a:fld>
            <a:endParaRPr lang="en-IN"/>
          </a:p>
        </p:txBody>
      </p:sp>
      <p:sp>
        <p:nvSpPr>
          <p:cNvPr id="6" name="Footer Placeholder 5">
            <a:extLst>
              <a:ext uri="{FF2B5EF4-FFF2-40B4-BE49-F238E27FC236}">
                <a16:creationId xmlns:a16="http://schemas.microsoft.com/office/drawing/2014/main" id="{96A4E6C4-98CD-DFAE-E514-8D3FCFEBA7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74A0385-BE55-7ED4-0B17-B78451D4763C}"/>
              </a:ext>
            </a:extLst>
          </p:cNvPr>
          <p:cNvSpPr>
            <a:spLocks noGrp="1"/>
          </p:cNvSpPr>
          <p:nvPr>
            <p:ph type="sldNum" sz="quarter" idx="12"/>
          </p:nvPr>
        </p:nvSpPr>
        <p:spPr/>
        <p:txBody>
          <a:bodyPr/>
          <a:lstStyle/>
          <a:p>
            <a:fld id="{D4CA840D-9877-4052-BCEE-82CFEE379B1A}" type="slidenum">
              <a:rPr lang="en-IN" smtClean="0"/>
              <a:t>‹#›</a:t>
            </a:fld>
            <a:endParaRPr lang="en-IN"/>
          </a:p>
        </p:txBody>
      </p:sp>
    </p:spTree>
    <p:extLst>
      <p:ext uri="{BB962C8B-B14F-4D97-AF65-F5344CB8AC3E}">
        <p14:creationId xmlns:p14="http://schemas.microsoft.com/office/powerpoint/2010/main" val="10372114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E465D-9872-B590-DDD2-3DE3AB95FDA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54A2CBF-2C4D-47B1-02D7-7FDDCA38F2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BC06C04-947A-AC1A-D5AB-62D2ABC3A49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C975F59-74E7-F389-A577-FD9E328DA0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C8D13D-BEBA-C563-6C86-1BBF969D948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417D957-58F6-D5AA-7115-5EC6D94F230B}"/>
              </a:ext>
            </a:extLst>
          </p:cNvPr>
          <p:cNvSpPr>
            <a:spLocks noGrp="1"/>
          </p:cNvSpPr>
          <p:nvPr>
            <p:ph type="dt" sz="half" idx="10"/>
          </p:nvPr>
        </p:nvSpPr>
        <p:spPr/>
        <p:txBody>
          <a:bodyPr/>
          <a:lstStyle/>
          <a:p>
            <a:fld id="{315C717F-B076-4CA4-9411-100B8B95BDE6}" type="datetimeFigureOut">
              <a:rPr lang="en-IN" smtClean="0"/>
              <a:t>17-04-2026</a:t>
            </a:fld>
            <a:endParaRPr lang="en-IN"/>
          </a:p>
        </p:txBody>
      </p:sp>
      <p:sp>
        <p:nvSpPr>
          <p:cNvPr id="8" name="Footer Placeholder 7">
            <a:extLst>
              <a:ext uri="{FF2B5EF4-FFF2-40B4-BE49-F238E27FC236}">
                <a16:creationId xmlns:a16="http://schemas.microsoft.com/office/drawing/2014/main" id="{7FEFEAA3-72B2-7E7C-6C9B-AEC27096FA7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4B625BD-AD79-E11C-4FAF-CC9D1F2370A6}"/>
              </a:ext>
            </a:extLst>
          </p:cNvPr>
          <p:cNvSpPr>
            <a:spLocks noGrp="1"/>
          </p:cNvSpPr>
          <p:nvPr>
            <p:ph type="sldNum" sz="quarter" idx="12"/>
          </p:nvPr>
        </p:nvSpPr>
        <p:spPr/>
        <p:txBody>
          <a:bodyPr/>
          <a:lstStyle/>
          <a:p>
            <a:fld id="{D4CA840D-9877-4052-BCEE-82CFEE379B1A}" type="slidenum">
              <a:rPr lang="en-IN" smtClean="0"/>
              <a:t>‹#›</a:t>
            </a:fld>
            <a:endParaRPr lang="en-IN"/>
          </a:p>
        </p:txBody>
      </p:sp>
    </p:spTree>
    <p:extLst>
      <p:ext uri="{BB962C8B-B14F-4D97-AF65-F5344CB8AC3E}">
        <p14:creationId xmlns:p14="http://schemas.microsoft.com/office/powerpoint/2010/main" val="826790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382E5-551F-A77A-7E41-56E88C3C43B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8BF4931-40CC-F2A6-E301-5C1A58376309}"/>
              </a:ext>
            </a:extLst>
          </p:cNvPr>
          <p:cNvSpPr>
            <a:spLocks noGrp="1"/>
          </p:cNvSpPr>
          <p:nvPr>
            <p:ph type="dt" sz="half" idx="10"/>
          </p:nvPr>
        </p:nvSpPr>
        <p:spPr/>
        <p:txBody>
          <a:bodyPr/>
          <a:lstStyle/>
          <a:p>
            <a:fld id="{315C717F-B076-4CA4-9411-100B8B95BDE6}" type="datetimeFigureOut">
              <a:rPr lang="en-IN" smtClean="0"/>
              <a:t>17-04-2026</a:t>
            </a:fld>
            <a:endParaRPr lang="en-IN"/>
          </a:p>
        </p:txBody>
      </p:sp>
      <p:sp>
        <p:nvSpPr>
          <p:cNvPr id="4" name="Footer Placeholder 3">
            <a:extLst>
              <a:ext uri="{FF2B5EF4-FFF2-40B4-BE49-F238E27FC236}">
                <a16:creationId xmlns:a16="http://schemas.microsoft.com/office/drawing/2014/main" id="{B09C06E0-91CA-0C48-8B49-FD29B6B34FC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E037360-0DC7-4E7E-E432-B1C300F76498}"/>
              </a:ext>
            </a:extLst>
          </p:cNvPr>
          <p:cNvSpPr>
            <a:spLocks noGrp="1"/>
          </p:cNvSpPr>
          <p:nvPr>
            <p:ph type="sldNum" sz="quarter" idx="12"/>
          </p:nvPr>
        </p:nvSpPr>
        <p:spPr/>
        <p:txBody>
          <a:bodyPr/>
          <a:lstStyle/>
          <a:p>
            <a:fld id="{D4CA840D-9877-4052-BCEE-82CFEE379B1A}" type="slidenum">
              <a:rPr lang="en-IN" smtClean="0"/>
              <a:t>‹#›</a:t>
            </a:fld>
            <a:endParaRPr lang="en-IN"/>
          </a:p>
        </p:txBody>
      </p:sp>
    </p:spTree>
    <p:extLst>
      <p:ext uri="{BB962C8B-B14F-4D97-AF65-F5344CB8AC3E}">
        <p14:creationId xmlns:p14="http://schemas.microsoft.com/office/powerpoint/2010/main" val="10645848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BC8243-DF93-4CA2-3F0E-BA19EADF3CD0}"/>
              </a:ext>
            </a:extLst>
          </p:cNvPr>
          <p:cNvSpPr>
            <a:spLocks noGrp="1"/>
          </p:cNvSpPr>
          <p:nvPr>
            <p:ph type="dt" sz="half" idx="10"/>
          </p:nvPr>
        </p:nvSpPr>
        <p:spPr/>
        <p:txBody>
          <a:bodyPr/>
          <a:lstStyle/>
          <a:p>
            <a:fld id="{315C717F-B076-4CA4-9411-100B8B95BDE6}" type="datetimeFigureOut">
              <a:rPr lang="en-IN" smtClean="0"/>
              <a:t>17-04-2026</a:t>
            </a:fld>
            <a:endParaRPr lang="en-IN"/>
          </a:p>
        </p:txBody>
      </p:sp>
      <p:sp>
        <p:nvSpPr>
          <p:cNvPr id="3" name="Footer Placeholder 2">
            <a:extLst>
              <a:ext uri="{FF2B5EF4-FFF2-40B4-BE49-F238E27FC236}">
                <a16:creationId xmlns:a16="http://schemas.microsoft.com/office/drawing/2014/main" id="{AB73D067-9DCC-63D9-785B-B4423CA3856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B41D0FB-F642-AD2B-2B1D-BC7624788182}"/>
              </a:ext>
            </a:extLst>
          </p:cNvPr>
          <p:cNvSpPr>
            <a:spLocks noGrp="1"/>
          </p:cNvSpPr>
          <p:nvPr>
            <p:ph type="sldNum" sz="quarter" idx="12"/>
          </p:nvPr>
        </p:nvSpPr>
        <p:spPr/>
        <p:txBody>
          <a:bodyPr/>
          <a:lstStyle/>
          <a:p>
            <a:fld id="{D4CA840D-9877-4052-BCEE-82CFEE379B1A}" type="slidenum">
              <a:rPr lang="en-IN" smtClean="0"/>
              <a:t>‹#›</a:t>
            </a:fld>
            <a:endParaRPr lang="en-IN"/>
          </a:p>
        </p:txBody>
      </p:sp>
    </p:spTree>
    <p:extLst>
      <p:ext uri="{BB962C8B-B14F-4D97-AF65-F5344CB8AC3E}">
        <p14:creationId xmlns:p14="http://schemas.microsoft.com/office/powerpoint/2010/main" val="646403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ED66C-9FFB-6E08-DC42-15A6FA6639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A712CC1-65C1-7E3F-9D49-726465C348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0290EC3-C223-E1C0-6903-94EB5CDF13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4D5C88-CFEB-548F-3BF8-A52B92B68E9B}"/>
              </a:ext>
            </a:extLst>
          </p:cNvPr>
          <p:cNvSpPr>
            <a:spLocks noGrp="1"/>
          </p:cNvSpPr>
          <p:nvPr>
            <p:ph type="dt" sz="half" idx="10"/>
          </p:nvPr>
        </p:nvSpPr>
        <p:spPr/>
        <p:txBody>
          <a:bodyPr/>
          <a:lstStyle/>
          <a:p>
            <a:fld id="{315C717F-B076-4CA4-9411-100B8B95BDE6}" type="datetimeFigureOut">
              <a:rPr lang="en-IN" smtClean="0"/>
              <a:t>17-04-2026</a:t>
            </a:fld>
            <a:endParaRPr lang="en-IN"/>
          </a:p>
        </p:txBody>
      </p:sp>
      <p:sp>
        <p:nvSpPr>
          <p:cNvPr id="6" name="Footer Placeholder 5">
            <a:extLst>
              <a:ext uri="{FF2B5EF4-FFF2-40B4-BE49-F238E27FC236}">
                <a16:creationId xmlns:a16="http://schemas.microsoft.com/office/drawing/2014/main" id="{EC8455A9-A951-582A-AE94-3D4230DE45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E513324-7820-148A-DF1F-6C36E276D467}"/>
              </a:ext>
            </a:extLst>
          </p:cNvPr>
          <p:cNvSpPr>
            <a:spLocks noGrp="1"/>
          </p:cNvSpPr>
          <p:nvPr>
            <p:ph type="sldNum" sz="quarter" idx="12"/>
          </p:nvPr>
        </p:nvSpPr>
        <p:spPr/>
        <p:txBody>
          <a:bodyPr/>
          <a:lstStyle/>
          <a:p>
            <a:fld id="{D4CA840D-9877-4052-BCEE-82CFEE379B1A}" type="slidenum">
              <a:rPr lang="en-IN" smtClean="0"/>
              <a:t>‹#›</a:t>
            </a:fld>
            <a:endParaRPr lang="en-IN"/>
          </a:p>
        </p:txBody>
      </p:sp>
    </p:spTree>
    <p:extLst>
      <p:ext uri="{BB962C8B-B14F-4D97-AF65-F5344CB8AC3E}">
        <p14:creationId xmlns:p14="http://schemas.microsoft.com/office/powerpoint/2010/main" val="3737094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65F88-7F98-C7F0-52DE-BD056F5BB2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639AFCB-1236-3283-BD68-01B78C478F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6FA24EB-2DA5-362C-5024-FFD849D51E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542908-76C5-311C-C548-6DBE22263856}"/>
              </a:ext>
            </a:extLst>
          </p:cNvPr>
          <p:cNvSpPr>
            <a:spLocks noGrp="1"/>
          </p:cNvSpPr>
          <p:nvPr>
            <p:ph type="dt" sz="half" idx="10"/>
          </p:nvPr>
        </p:nvSpPr>
        <p:spPr/>
        <p:txBody>
          <a:bodyPr/>
          <a:lstStyle/>
          <a:p>
            <a:fld id="{315C717F-B076-4CA4-9411-100B8B95BDE6}" type="datetimeFigureOut">
              <a:rPr lang="en-IN" smtClean="0"/>
              <a:t>17-04-2026</a:t>
            </a:fld>
            <a:endParaRPr lang="en-IN"/>
          </a:p>
        </p:txBody>
      </p:sp>
      <p:sp>
        <p:nvSpPr>
          <p:cNvPr id="6" name="Footer Placeholder 5">
            <a:extLst>
              <a:ext uri="{FF2B5EF4-FFF2-40B4-BE49-F238E27FC236}">
                <a16:creationId xmlns:a16="http://schemas.microsoft.com/office/drawing/2014/main" id="{BD60B24D-D32B-B565-BAB6-B62DA0B3908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F64D84-1731-F84B-A742-408C803CC1EA}"/>
              </a:ext>
            </a:extLst>
          </p:cNvPr>
          <p:cNvSpPr>
            <a:spLocks noGrp="1"/>
          </p:cNvSpPr>
          <p:nvPr>
            <p:ph type="sldNum" sz="quarter" idx="12"/>
          </p:nvPr>
        </p:nvSpPr>
        <p:spPr/>
        <p:txBody>
          <a:bodyPr/>
          <a:lstStyle/>
          <a:p>
            <a:fld id="{D4CA840D-9877-4052-BCEE-82CFEE379B1A}" type="slidenum">
              <a:rPr lang="en-IN" smtClean="0"/>
              <a:t>‹#›</a:t>
            </a:fld>
            <a:endParaRPr lang="en-IN"/>
          </a:p>
        </p:txBody>
      </p:sp>
    </p:spTree>
    <p:extLst>
      <p:ext uri="{BB962C8B-B14F-4D97-AF65-F5344CB8AC3E}">
        <p14:creationId xmlns:p14="http://schemas.microsoft.com/office/powerpoint/2010/main" val="2432822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73764-4790-6442-CF4D-E90A88A74DD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94AB529-4832-D275-A6A2-7B088C3AA9E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741A9F-A31F-AA49-8843-17E75E66A62A}"/>
              </a:ext>
            </a:extLst>
          </p:cNvPr>
          <p:cNvSpPr>
            <a:spLocks noGrp="1"/>
          </p:cNvSpPr>
          <p:nvPr>
            <p:ph type="dt" sz="half" idx="10"/>
          </p:nvPr>
        </p:nvSpPr>
        <p:spPr/>
        <p:txBody>
          <a:bodyPr/>
          <a:lstStyle/>
          <a:p>
            <a:fld id="{315C717F-B076-4CA4-9411-100B8B95BDE6}" type="datetimeFigureOut">
              <a:rPr lang="en-IN" smtClean="0"/>
              <a:t>17-04-2026</a:t>
            </a:fld>
            <a:endParaRPr lang="en-IN"/>
          </a:p>
        </p:txBody>
      </p:sp>
      <p:sp>
        <p:nvSpPr>
          <p:cNvPr id="5" name="Footer Placeholder 4">
            <a:extLst>
              <a:ext uri="{FF2B5EF4-FFF2-40B4-BE49-F238E27FC236}">
                <a16:creationId xmlns:a16="http://schemas.microsoft.com/office/drawing/2014/main" id="{FE0651C0-43ED-F099-F0D7-E5F6C509E5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F8FE9A-D8E6-C9ED-0F67-62722B713038}"/>
              </a:ext>
            </a:extLst>
          </p:cNvPr>
          <p:cNvSpPr>
            <a:spLocks noGrp="1"/>
          </p:cNvSpPr>
          <p:nvPr>
            <p:ph type="sldNum" sz="quarter" idx="12"/>
          </p:nvPr>
        </p:nvSpPr>
        <p:spPr/>
        <p:txBody>
          <a:bodyPr/>
          <a:lstStyle/>
          <a:p>
            <a:fld id="{D4CA840D-9877-4052-BCEE-82CFEE379B1A}" type="slidenum">
              <a:rPr lang="en-IN" smtClean="0"/>
              <a:t>‹#›</a:t>
            </a:fld>
            <a:endParaRPr lang="en-IN"/>
          </a:p>
        </p:txBody>
      </p:sp>
    </p:spTree>
    <p:extLst>
      <p:ext uri="{BB962C8B-B14F-4D97-AF65-F5344CB8AC3E}">
        <p14:creationId xmlns:p14="http://schemas.microsoft.com/office/powerpoint/2010/main" val="2715139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0E9284-4B29-1791-9BEE-9075496F774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C0A14D6-8B27-3045-AE9E-B53F59B3BB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FD8300-12B5-5AF6-5BEE-23FB7472A207}"/>
              </a:ext>
            </a:extLst>
          </p:cNvPr>
          <p:cNvSpPr>
            <a:spLocks noGrp="1"/>
          </p:cNvSpPr>
          <p:nvPr>
            <p:ph type="dt" sz="half" idx="10"/>
          </p:nvPr>
        </p:nvSpPr>
        <p:spPr/>
        <p:txBody>
          <a:bodyPr/>
          <a:lstStyle/>
          <a:p>
            <a:fld id="{315C717F-B076-4CA4-9411-100B8B95BDE6}" type="datetimeFigureOut">
              <a:rPr lang="en-IN" smtClean="0"/>
              <a:t>17-04-2026</a:t>
            </a:fld>
            <a:endParaRPr lang="en-IN"/>
          </a:p>
        </p:txBody>
      </p:sp>
      <p:sp>
        <p:nvSpPr>
          <p:cNvPr id="5" name="Footer Placeholder 4">
            <a:extLst>
              <a:ext uri="{FF2B5EF4-FFF2-40B4-BE49-F238E27FC236}">
                <a16:creationId xmlns:a16="http://schemas.microsoft.com/office/drawing/2014/main" id="{A0D63E3F-BCC6-B5BC-883D-224A0D8385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278AA3-BAF3-9081-429F-96D3B9BA67C5}"/>
              </a:ext>
            </a:extLst>
          </p:cNvPr>
          <p:cNvSpPr>
            <a:spLocks noGrp="1"/>
          </p:cNvSpPr>
          <p:nvPr>
            <p:ph type="sldNum" sz="quarter" idx="12"/>
          </p:nvPr>
        </p:nvSpPr>
        <p:spPr/>
        <p:txBody>
          <a:bodyPr/>
          <a:lstStyle/>
          <a:p>
            <a:fld id="{D4CA840D-9877-4052-BCEE-82CFEE379B1A}" type="slidenum">
              <a:rPr lang="en-IN" smtClean="0"/>
              <a:t>‹#›</a:t>
            </a:fld>
            <a:endParaRPr lang="en-IN"/>
          </a:p>
        </p:txBody>
      </p:sp>
    </p:spTree>
    <p:extLst>
      <p:ext uri="{BB962C8B-B14F-4D97-AF65-F5344CB8AC3E}">
        <p14:creationId xmlns:p14="http://schemas.microsoft.com/office/powerpoint/2010/main" val="23977615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2771CB-DC7D-C78C-4E97-00BE9233A2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9616E69-6C8C-1418-BB14-8AA3B7C5DE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7FD7FD7-A8FB-B81E-343B-A6280C9190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5C717F-B076-4CA4-9411-100B8B95BDE6}" type="datetimeFigureOut">
              <a:rPr lang="en-IN" smtClean="0"/>
              <a:t>17-04-2026</a:t>
            </a:fld>
            <a:endParaRPr lang="en-IN"/>
          </a:p>
        </p:txBody>
      </p:sp>
      <p:sp>
        <p:nvSpPr>
          <p:cNvPr id="5" name="Footer Placeholder 4">
            <a:extLst>
              <a:ext uri="{FF2B5EF4-FFF2-40B4-BE49-F238E27FC236}">
                <a16:creationId xmlns:a16="http://schemas.microsoft.com/office/drawing/2014/main" id="{2448B039-C337-6A76-CE4E-894A846F4C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61AB38E-2047-1932-CA86-35D43DE1FF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CA840D-9877-4052-BCEE-82CFEE379B1A}" type="slidenum">
              <a:rPr lang="en-IN" smtClean="0"/>
              <a:t>‹#›</a:t>
            </a:fld>
            <a:endParaRPr lang="en-IN"/>
          </a:p>
        </p:txBody>
      </p:sp>
    </p:spTree>
    <p:extLst>
      <p:ext uri="{BB962C8B-B14F-4D97-AF65-F5344CB8AC3E}">
        <p14:creationId xmlns:p14="http://schemas.microsoft.com/office/powerpoint/2010/main" val="2039605353"/>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618E7-B536-ACDB-D48E-720E55DB1221}"/>
              </a:ext>
            </a:extLst>
          </p:cNvPr>
          <p:cNvSpPr>
            <a:spLocks noGrp="1"/>
          </p:cNvSpPr>
          <p:nvPr>
            <p:ph type="ctrTitle"/>
          </p:nvPr>
        </p:nvSpPr>
        <p:spPr/>
        <p:txBody>
          <a:bodyPr/>
          <a:lstStyle/>
          <a:p>
            <a:r>
              <a:rPr lang="en-IN" b="1" dirty="0"/>
              <a:t>Progress on the FPGA Implementation project</a:t>
            </a:r>
          </a:p>
        </p:txBody>
      </p:sp>
      <p:sp>
        <p:nvSpPr>
          <p:cNvPr id="3" name="Subtitle 2">
            <a:extLst>
              <a:ext uri="{FF2B5EF4-FFF2-40B4-BE49-F238E27FC236}">
                <a16:creationId xmlns:a16="http://schemas.microsoft.com/office/drawing/2014/main" id="{F8A773B3-A9A0-A916-0510-DF1F1C0DEB4A}"/>
              </a:ext>
            </a:extLst>
          </p:cNvPr>
          <p:cNvSpPr>
            <a:spLocks noGrp="1"/>
          </p:cNvSpPr>
          <p:nvPr>
            <p:ph type="subTitle" idx="1"/>
          </p:nvPr>
        </p:nvSpPr>
        <p:spPr/>
        <p:txBody>
          <a:bodyPr/>
          <a:lstStyle/>
          <a:p>
            <a:r>
              <a:rPr lang="en-IN" dirty="0"/>
              <a:t>-Amartya T.</a:t>
            </a:r>
          </a:p>
        </p:txBody>
      </p:sp>
    </p:spTree>
    <p:extLst>
      <p:ext uri="{BB962C8B-B14F-4D97-AF65-F5344CB8AC3E}">
        <p14:creationId xmlns:p14="http://schemas.microsoft.com/office/powerpoint/2010/main" val="15320537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AE39D-F8B8-5E38-D56F-D3166CCEB8D9}"/>
              </a:ext>
            </a:extLst>
          </p:cNvPr>
          <p:cNvSpPr>
            <a:spLocks noGrp="1"/>
          </p:cNvSpPr>
          <p:nvPr>
            <p:ph type="title"/>
          </p:nvPr>
        </p:nvSpPr>
        <p:spPr/>
        <p:txBody>
          <a:bodyPr/>
          <a:lstStyle/>
          <a:p>
            <a:pPr algn="ctr"/>
            <a:r>
              <a:rPr lang="en-IN" b="1" dirty="0"/>
              <a:t>My Work</a:t>
            </a:r>
          </a:p>
        </p:txBody>
      </p:sp>
      <p:sp>
        <p:nvSpPr>
          <p:cNvPr id="3" name="Content Placeholder 2">
            <a:extLst>
              <a:ext uri="{FF2B5EF4-FFF2-40B4-BE49-F238E27FC236}">
                <a16:creationId xmlns:a16="http://schemas.microsoft.com/office/drawing/2014/main" id="{8C7FFFBA-70DB-0B40-54E2-CD3029A2F6BF}"/>
              </a:ext>
            </a:extLst>
          </p:cNvPr>
          <p:cNvSpPr>
            <a:spLocks noGrp="1"/>
          </p:cNvSpPr>
          <p:nvPr>
            <p:ph idx="1"/>
          </p:nvPr>
        </p:nvSpPr>
        <p:spPr/>
        <p:txBody>
          <a:bodyPr>
            <a:normAutofit fontScale="85000" lnSpcReduction="20000"/>
          </a:bodyPr>
          <a:lstStyle/>
          <a:p>
            <a:r>
              <a:rPr lang="en-IN" dirty="0"/>
              <a:t>I have been assigned 2 main modules. A </a:t>
            </a:r>
            <a:r>
              <a:rPr lang="en-IN" b="1" dirty="0"/>
              <a:t>CORDIC</a:t>
            </a:r>
            <a:r>
              <a:rPr lang="en-IN" dirty="0"/>
              <a:t> </a:t>
            </a:r>
            <a:r>
              <a:rPr lang="en-IN" b="1" dirty="0"/>
              <a:t>algorithm</a:t>
            </a:r>
            <a:r>
              <a:rPr lang="en-IN" dirty="0"/>
              <a:t> based </a:t>
            </a:r>
            <a:r>
              <a:rPr lang="en-IN" b="1" dirty="0"/>
              <a:t>Square root </a:t>
            </a:r>
            <a:r>
              <a:rPr lang="en-IN" dirty="0"/>
              <a:t>function, and a beamforming function.</a:t>
            </a:r>
          </a:p>
          <a:p>
            <a:r>
              <a:rPr lang="en-IN" dirty="0"/>
              <a:t>The </a:t>
            </a:r>
            <a:r>
              <a:rPr lang="en-IN" b="1" dirty="0"/>
              <a:t>CORDIC square root </a:t>
            </a:r>
            <a:r>
              <a:rPr lang="en-IN" dirty="0"/>
              <a:t>is a simple but effective hardware oriented algorithm to calculate the square root of any binary number. I have synthesized and implemented it successfully in Verilog, taking an input number and resulting in an output.</a:t>
            </a:r>
          </a:p>
          <a:p>
            <a:r>
              <a:rPr lang="en-IN" dirty="0"/>
              <a:t>The beamforming function</a:t>
            </a:r>
            <a:r>
              <a:rPr lang="en-US" dirty="0"/>
              <a:t> implements a </a:t>
            </a:r>
            <a:r>
              <a:rPr lang="en-US" b="1" dirty="0"/>
              <a:t>Delay-and-Sum (DAS)</a:t>
            </a:r>
            <a:r>
              <a:rPr lang="en-US" dirty="0"/>
              <a:t> architecture that computes time-of-flight for 128 transducer elements and essentially “focuses” the echoes off the microbubble by delaying each signal to cause constructive interference. It uses the </a:t>
            </a:r>
            <a:r>
              <a:rPr lang="en-US" b="1" dirty="0"/>
              <a:t>CORDIC square root</a:t>
            </a:r>
            <a:r>
              <a:rPr lang="en-US" dirty="0"/>
              <a:t> to derive precise RF memory addresses for real-time pixel reconstruction across a given image grid. It currently calculates 51 addresses for a single pixel at a time, with a delay of roughly </a:t>
            </a:r>
            <a:r>
              <a:rPr lang="en-US" b="1" dirty="0"/>
              <a:t>50 clock cycles per pixel</a:t>
            </a:r>
            <a:r>
              <a:rPr lang="en-US" dirty="0"/>
              <a:t>, which can be optimized quite a bit.</a:t>
            </a:r>
            <a:br>
              <a:rPr lang="en-US" dirty="0"/>
            </a:br>
            <a:r>
              <a:rPr lang="en-US" dirty="0"/>
              <a:t>The </a:t>
            </a:r>
            <a:r>
              <a:rPr lang="en-US" b="1" dirty="0"/>
              <a:t>RF address</a:t>
            </a:r>
            <a:r>
              <a:rPr lang="en-US" dirty="0"/>
              <a:t> is basically a digital pointer that tells the hardware “where” to grab the delay data from.</a:t>
            </a:r>
            <a:endParaRPr lang="en-IN" dirty="0"/>
          </a:p>
        </p:txBody>
      </p:sp>
    </p:spTree>
    <p:extLst>
      <p:ext uri="{BB962C8B-B14F-4D97-AF65-F5344CB8AC3E}">
        <p14:creationId xmlns:p14="http://schemas.microsoft.com/office/powerpoint/2010/main" val="30877820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1AC79-C23C-99F2-E6B9-753A4B7A5DB2}"/>
              </a:ext>
            </a:extLst>
          </p:cNvPr>
          <p:cNvSpPr>
            <a:spLocks noGrp="1"/>
          </p:cNvSpPr>
          <p:nvPr>
            <p:ph type="title"/>
          </p:nvPr>
        </p:nvSpPr>
        <p:spPr/>
        <p:txBody>
          <a:bodyPr/>
          <a:lstStyle/>
          <a:p>
            <a:pPr algn="ctr"/>
            <a:r>
              <a:rPr lang="en-IN" b="1" dirty="0"/>
              <a:t>Weekly Progress Timeline</a:t>
            </a:r>
          </a:p>
        </p:txBody>
      </p:sp>
      <p:sp>
        <p:nvSpPr>
          <p:cNvPr id="3" name="Content Placeholder 2">
            <a:extLst>
              <a:ext uri="{FF2B5EF4-FFF2-40B4-BE49-F238E27FC236}">
                <a16:creationId xmlns:a16="http://schemas.microsoft.com/office/drawing/2014/main" id="{2A28E05C-84D6-ECE6-CE1B-0F92ABC66163}"/>
              </a:ext>
            </a:extLst>
          </p:cNvPr>
          <p:cNvSpPr>
            <a:spLocks noGrp="1"/>
          </p:cNvSpPr>
          <p:nvPr>
            <p:ph idx="1"/>
          </p:nvPr>
        </p:nvSpPr>
        <p:spPr/>
        <p:txBody>
          <a:bodyPr>
            <a:normAutofit fontScale="55000" lnSpcReduction="20000"/>
          </a:bodyPr>
          <a:lstStyle/>
          <a:p>
            <a:r>
              <a:rPr lang="en-US" b="1" dirty="0"/>
              <a:t>Weeks 1–4a: CORDIC Square Root</a:t>
            </a:r>
          </a:p>
          <a:p>
            <a:r>
              <a:rPr lang="en-US" dirty="0"/>
              <a:t>The goal here is a bit-accurate, and an efficient square-root calculator that takes an input number and returns its </a:t>
            </a:r>
            <a:r>
              <a:rPr lang="en-US" dirty="0" err="1"/>
              <a:t>squareroot</a:t>
            </a:r>
            <a:r>
              <a:rPr lang="en-US" dirty="0"/>
              <a:t>.</a:t>
            </a:r>
          </a:p>
          <a:p>
            <a:r>
              <a:rPr lang="en-US" b="1" dirty="0"/>
              <a:t>Weeks 1–2:</a:t>
            </a:r>
            <a:r>
              <a:rPr lang="en-US" dirty="0"/>
              <a:t> Learn the CORDIC algorithm, study the MATLAB code and understand how it works. Make a rough </a:t>
            </a:r>
            <a:r>
              <a:rPr lang="en-US" dirty="0" err="1"/>
              <a:t>vivado</a:t>
            </a:r>
            <a:r>
              <a:rPr lang="en-US" dirty="0"/>
              <a:t> implementation.</a:t>
            </a:r>
          </a:p>
          <a:p>
            <a:r>
              <a:rPr lang="en-US" b="1" dirty="0"/>
              <a:t>Weeks 3–4:</a:t>
            </a:r>
            <a:r>
              <a:rPr lang="en-US" dirty="0"/>
              <a:t> Verify RTL, test rigorously, optimize algorithm and try to synthesize &amp; implement.</a:t>
            </a:r>
            <a:br>
              <a:rPr lang="en-US" dirty="0"/>
            </a:br>
            <a:endParaRPr lang="en-US" dirty="0"/>
          </a:p>
          <a:p>
            <a:r>
              <a:rPr lang="en-US" b="1" dirty="0"/>
              <a:t>Weeks 5–6: Delay Calculator and CORDIC Implementation</a:t>
            </a:r>
          </a:p>
          <a:p>
            <a:r>
              <a:rPr lang="en-US" dirty="0"/>
              <a:t>Using CORDIC module try to find the propagation delay of the signal to perform beamforming correctly.</a:t>
            </a:r>
          </a:p>
          <a:p>
            <a:r>
              <a:rPr lang="en-US" b="1" dirty="0"/>
              <a:t>Week 5:</a:t>
            </a:r>
            <a:r>
              <a:rPr lang="en-US" dirty="0"/>
              <a:t> Map the input data to the CORDIC input (x2+y2) to calculate distance.</a:t>
            </a:r>
          </a:p>
          <a:p>
            <a:r>
              <a:rPr lang="en-US" b="1" dirty="0"/>
              <a:t>Week 6: </a:t>
            </a:r>
            <a:r>
              <a:rPr lang="en-US" dirty="0"/>
              <a:t>Break the Beamforming function into a 3 module pipeline, work from the bottom up.</a:t>
            </a:r>
          </a:p>
          <a:p>
            <a:pPr marL="0" indent="0">
              <a:buNone/>
            </a:pPr>
            <a:endParaRPr lang="en-US" dirty="0"/>
          </a:p>
          <a:p>
            <a:r>
              <a:rPr lang="en-US" b="1" dirty="0"/>
              <a:t>Weeks 7–8: Beamformer Integration</a:t>
            </a:r>
          </a:p>
          <a:p>
            <a:r>
              <a:rPr lang="en-US" dirty="0"/>
              <a:t>The final "Delay and Sum" (DAS) stage.</a:t>
            </a:r>
          </a:p>
          <a:p>
            <a:r>
              <a:rPr lang="en-US" b="1" dirty="0"/>
              <a:t>Week 7:</a:t>
            </a:r>
            <a:r>
              <a:rPr lang="en-US" dirty="0"/>
              <a:t> Build the Delay Calculator and test it against the MATLAB module. Make a rough skeleton of the beamformer operation.</a:t>
            </a:r>
          </a:p>
          <a:p>
            <a:r>
              <a:rPr lang="en-US" b="1" dirty="0"/>
              <a:t>Week 8:</a:t>
            </a:r>
            <a:r>
              <a:rPr lang="en-US" dirty="0"/>
              <a:t> Synthesize and implement the Delay Calculator alone and then try to use beamformer to call M instances in parallel to calculate all delays for a pixel.</a:t>
            </a:r>
          </a:p>
          <a:p>
            <a:endParaRPr lang="en-IN" dirty="0"/>
          </a:p>
        </p:txBody>
      </p:sp>
    </p:spTree>
    <p:extLst>
      <p:ext uri="{BB962C8B-B14F-4D97-AF65-F5344CB8AC3E}">
        <p14:creationId xmlns:p14="http://schemas.microsoft.com/office/powerpoint/2010/main" val="1759507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CD3CD-FB8F-8EE3-207D-24E81521C13F}"/>
              </a:ext>
            </a:extLst>
          </p:cNvPr>
          <p:cNvSpPr>
            <a:spLocks noGrp="1"/>
          </p:cNvSpPr>
          <p:nvPr>
            <p:ph type="title"/>
          </p:nvPr>
        </p:nvSpPr>
        <p:spPr/>
        <p:txBody>
          <a:bodyPr/>
          <a:lstStyle/>
          <a:p>
            <a:pPr algn="ctr"/>
            <a:r>
              <a:rPr lang="en-IN" b="1" dirty="0"/>
              <a:t>Testbench values of CORDIC sqrt function:</a:t>
            </a:r>
          </a:p>
        </p:txBody>
      </p:sp>
      <p:sp>
        <p:nvSpPr>
          <p:cNvPr id="3" name="Content Placeholder 2">
            <a:extLst>
              <a:ext uri="{FF2B5EF4-FFF2-40B4-BE49-F238E27FC236}">
                <a16:creationId xmlns:a16="http://schemas.microsoft.com/office/drawing/2014/main" id="{20FE695D-A44F-A859-AC56-7370C5E60483}"/>
              </a:ext>
            </a:extLst>
          </p:cNvPr>
          <p:cNvSpPr>
            <a:spLocks noGrp="1"/>
          </p:cNvSpPr>
          <p:nvPr>
            <p:ph idx="1"/>
          </p:nvPr>
        </p:nvSpPr>
        <p:spPr>
          <a:xfrm>
            <a:off x="838199" y="1690688"/>
            <a:ext cx="10515600" cy="4351338"/>
          </a:xfrm>
        </p:spPr>
        <p:txBody>
          <a:bodyPr/>
          <a:lstStyle/>
          <a:p>
            <a:r>
              <a:rPr lang="en-IN" sz="1800" dirty="0"/>
              <a:t>Keeping in mind that the values of Verilog are using a number system </a:t>
            </a:r>
            <a:r>
              <a:rPr lang="en-IN" sz="1800" b="1" dirty="0"/>
              <a:t>Q 6.26 </a:t>
            </a:r>
            <a:r>
              <a:rPr lang="en-IN" sz="1800" dirty="0"/>
              <a:t>(6 integer bits, 26 fractional bits, and has an input range of </a:t>
            </a:r>
            <a:r>
              <a:rPr lang="en-IN" sz="1800" dirty="0" err="1"/>
              <a:t>upto</a:t>
            </a:r>
            <a:r>
              <a:rPr lang="en-IN" sz="1800" dirty="0"/>
              <a:t> </a:t>
            </a:r>
            <a:r>
              <a:rPr lang="en-IN" sz="1800" b="1" dirty="0"/>
              <a:t>63.99</a:t>
            </a:r>
            <a:r>
              <a:rPr lang="en-IN" sz="1800" dirty="0"/>
              <a:t>) It has reasonably good accuracy, but the method used has its limitations in Verilog because the number of iterations are capped relative to the widths of the numbers. Accuracy can be increased as I have parametrized all the inputs, so the code should be scalable for larger number systems giving closer results. </a:t>
            </a:r>
            <a:r>
              <a:rPr lang="en-IN" sz="1800" b="1" dirty="0"/>
              <a:t>RMS error </a:t>
            </a:r>
            <a:r>
              <a:rPr lang="en-IN" sz="1800" dirty="0"/>
              <a:t>of the table below is : </a:t>
            </a:r>
            <a:r>
              <a:rPr lang="en-IN" sz="1800" b="1" dirty="0"/>
              <a:t>0.0587%</a:t>
            </a:r>
            <a:r>
              <a:rPr lang="en-IN" sz="1800" dirty="0"/>
              <a:t>.</a:t>
            </a:r>
            <a:endParaRPr lang="en-IN" b="1" dirty="0"/>
          </a:p>
        </p:txBody>
      </p:sp>
      <p:pic>
        <p:nvPicPr>
          <p:cNvPr id="5" name="Picture 4">
            <a:extLst>
              <a:ext uri="{FF2B5EF4-FFF2-40B4-BE49-F238E27FC236}">
                <a16:creationId xmlns:a16="http://schemas.microsoft.com/office/drawing/2014/main" id="{4F3B873C-A5D7-45D8-E313-2061A23F6F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4710" y="3016251"/>
            <a:ext cx="7554379" cy="1819529"/>
          </a:xfrm>
          <a:prstGeom prst="rect">
            <a:avLst/>
          </a:prstGeom>
        </p:spPr>
      </p:pic>
      <p:pic>
        <p:nvPicPr>
          <p:cNvPr id="6" name="Picture 5">
            <a:extLst>
              <a:ext uri="{FF2B5EF4-FFF2-40B4-BE49-F238E27FC236}">
                <a16:creationId xmlns:a16="http://schemas.microsoft.com/office/drawing/2014/main" id="{446806F9-13C0-45A3-C2A5-88878FF99889}"/>
              </a:ext>
            </a:extLst>
          </p:cNvPr>
          <p:cNvPicPr>
            <a:picLocks noChangeAspect="1"/>
          </p:cNvPicPr>
          <p:nvPr/>
        </p:nvPicPr>
        <p:blipFill>
          <a:blip r:embed="rId3"/>
          <a:stretch>
            <a:fillRect/>
          </a:stretch>
        </p:blipFill>
        <p:spPr>
          <a:xfrm>
            <a:off x="2335476" y="4835780"/>
            <a:ext cx="6582694" cy="1543265"/>
          </a:xfrm>
          <a:prstGeom prst="rect">
            <a:avLst/>
          </a:prstGeom>
        </p:spPr>
      </p:pic>
    </p:spTree>
    <p:extLst>
      <p:ext uri="{BB962C8B-B14F-4D97-AF65-F5344CB8AC3E}">
        <p14:creationId xmlns:p14="http://schemas.microsoft.com/office/powerpoint/2010/main" val="2119007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5A3F4-F5B9-A3C3-40D4-69FFE2455FAA}"/>
              </a:ext>
            </a:extLst>
          </p:cNvPr>
          <p:cNvSpPr>
            <a:spLocks noGrp="1"/>
          </p:cNvSpPr>
          <p:nvPr>
            <p:ph type="title"/>
          </p:nvPr>
        </p:nvSpPr>
        <p:spPr/>
        <p:txBody>
          <a:bodyPr/>
          <a:lstStyle/>
          <a:p>
            <a:pPr algn="ctr"/>
            <a:r>
              <a:rPr lang="en-IN" b="1" dirty="0"/>
              <a:t>Synthesis &amp; Implementation</a:t>
            </a:r>
          </a:p>
        </p:txBody>
      </p:sp>
      <p:sp>
        <p:nvSpPr>
          <p:cNvPr id="9" name="Content Placeholder 8">
            <a:extLst>
              <a:ext uri="{FF2B5EF4-FFF2-40B4-BE49-F238E27FC236}">
                <a16:creationId xmlns:a16="http://schemas.microsoft.com/office/drawing/2014/main" id="{7EF44F06-8675-7FBF-2E79-6E2309E38D0C}"/>
              </a:ext>
            </a:extLst>
          </p:cNvPr>
          <p:cNvSpPr>
            <a:spLocks noGrp="1"/>
          </p:cNvSpPr>
          <p:nvPr>
            <p:ph idx="1"/>
          </p:nvPr>
        </p:nvSpPr>
        <p:spPr/>
        <p:txBody>
          <a:bodyPr>
            <a:normAutofit/>
          </a:bodyPr>
          <a:lstStyle/>
          <a:p>
            <a:r>
              <a:rPr lang="en-IN" sz="2000" dirty="0"/>
              <a:t>Synthesis was done successfully, and implementation was also successfully run. </a:t>
            </a:r>
          </a:p>
          <a:p>
            <a:r>
              <a:rPr lang="en-IN" sz="2000" dirty="0"/>
              <a:t>There are some warnings related to clock and timing, but those can only be tweaked once I have the board that I want to implement it on, ready to go.</a:t>
            </a:r>
          </a:p>
          <a:p>
            <a:r>
              <a:rPr lang="en-IN" sz="2000" dirty="0"/>
              <a:t>The implemented design uses 118 IO ports, has 352 LUTs and 55 flip flops.</a:t>
            </a:r>
          </a:p>
        </p:txBody>
      </p:sp>
      <p:pic>
        <p:nvPicPr>
          <p:cNvPr id="11" name="Picture 10">
            <a:extLst>
              <a:ext uri="{FF2B5EF4-FFF2-40B4-BE49-F238E27FC236}">
                <a16:creationId xmlns:a16="http://schemas.microsoft.com/office/drawing/2014/main" id="{796B539D-DDA0-14A4-176B-EC009AE0586E}"/>
              </a:ext>
            </a:extLst>
          </p:cNvPr>
          <p:cNvPicPr>
            <a:picLocks noChangeAspect="1"/>
          </p:cNvPicPr>
          <p:nvPr/>
        </p:nvPicPr>
        <p:blipFill>
          <a:blip r:embed="rId2"/>
          <a:stretch>
            <a:fillRect/>
          </a:stretch>
        </p:blipFill>
        <p:spPr>
          <a:xfrm>
            <a:off x="3097428" y="3429000"/>
            <a:ext cx="5556152" cy="3006288"/>
          </a:xfrm>
          <a:prstGeom prst="rect">
            <a:avLst/>
          </a:prstGeom>
        </p:spPr>
      </p:pic>
    </p:spTree>
    <p:extLst>
      <p:ext uri="{BB962C8B-B14F-4D97-AF65-F5344CB8AC3E}">
        <p14:creationId xmlns:p14="http://schemas.microsoft.com/office/powerpoint/2010/main" val="1420282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ED09A-B0F5-E581-DCC0-8A9F1647F218}"/>
              </a:ext>
            </a:extLst>
          </p:cNvPr>
          <p:cNvSpPr>
            <a:spLocks noGrp="1"/>
          </p:cNvSpPr>
          <p:nvPr>
            <p:ph type="title"/>
          </p:nvPr>
        </p:nvSpPr>
        <p:spPr/>
        <p:txBody>
          <a:bodyPr/>
          <a:lstStyle/>
          <a:p>
            <a:pPr algn="ctr"/>
            <a:r>
              <a:rPr lang="en-IN" b="1" dirty="0"/>
              <a:t>Beamforming Function</a:t>
            </a:r>
          </a:p>
        </p:txBody>
      </p:sp>
      <p:sp>
        <p:nvSpPr>
          <p:cNvPr id="3" name="Content Placeholder 2">
            <a:extLst>
              <a:ext uri="{FF2B5EF4-FFF2-40B4-BE49-F238E27FC236}">
                <a16:creationId xmlns:a16="http://schemas.microsoft.com/office/drawing/2014/main" id="{03091301-9AB6-6530-47E3-8EB0511A0DFC}"/>
              </a:ext>
            </a:extLst>
          </p:cNvPr>
          <p:cNvSpPr>
            <a:spLocks noGrp="1"/>
          </p:cNvSpPr>
          <p:nvPr>
            <p:ph idx="1"/>
          </p:nvPr>
        </p:nvSpPr>
        <p:spPr/>
        <p:txBody>
          <a:bodyPr/>
          <a:lstStyle/>
          <a:p>
            <a:r>
              <a:rPr lang="en-IN" dirty="0"/>
              <a:t>The beam forming function is not as straightforward as the CORDIC sqrt. To start, I have made a </a:t>
            </a:r>
            <a:r>
              <a:rPr lang="en-IN" b="1" dirty="0"/>
              <a:t>Delay calculator </a:t>
            </a:r>
            <a:r>
              <a:rPr lang="en-IN" dirty="0"/>
              <a:t>mimicking the </a:t>
            </a:r>
            <a:r>
              <a:rPr lang="en-IN" dirty="0" err="1"/>
              <a:t>matlab</a:t>
            </a:r>
            <a:r>
              <a:rPr lang="en-IN" dirty="0"/>
              <a:t> code that calculates the RF address value for a single channel for a given pixel. I then run M of these instances in parallel(parametrized so can be changed), to calculate all the M address values for a single pixel within 50-55 clock cycles(Where M is the size of the aperture window). Lastly, there is a </a:t>
            </a:r>
            <a:r>
              <a:rPr lang="en-IN" b="1" dirty="0"/>
              <a:t>Top level controller </a:t>
            </a:r>
            <a:r>
              <a:rPr lang="en-IN" dirty="0"/>
              <a:t>so that I can pass each of the pixel values to the beamforming function sequentially, so that it may calculate the whole image grid. The controller also contains a </a:t>
            </a:r>
            <a:r>
              <a:rPr lang="en-IN" b="1" dirty="0"/>
              <a:t>co-ordinate generator</a:t>
            </a:r>
            <a:r>
              <a:rPr lang="en-IN" dirty="0"/>
              <a:t>, that reads each pixel values from the </a:t>
            </a:r>
            <a:r>
              <a:rPr lang="en-IN" b="1" dirty="0"/>
              <a:t>ROM</a:t>
            </a:r>
            <a:r>
              <a:rPr lang="en-IN" dirty="0"/>
              <a:t>. </a:t>
            </a:r>
          </a:p>
        </p:txBody>
      </p:sp>
    </p:spTree>
    <p:extLst>
      <p:ext uri="{BB962C8B-B14F-4D97-AF65-F5344CB8AC3E}">
        <p14:creationId xmlns:p14="http://schemas.microsoft.com/office/powerpoint/2010/main" val="40804721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F9711-6AD3-FC1F-763B-66C411D82CF0}"/>
              </a:ext>
            </a:extLst>
          </p:cNvPr>
          <p:cNvSpPr>
            <a:spLocks noGrp="1"/>
          </p:cNvSpPr>
          <p:nvPr>
            <p:ph type="title"/>
          </p:nvPr>
        </p:nvSpPr>
        <p:spPr/>
        <p:txBody>
          <a:bodyPr/>
          <a:lstStyle/>
          <a:p>
            <a:pPr algn="ctr"/>
            <a:r>
              <a:rPr lang="en-IN" b="1" dirty="0"/>
              <a:t>Delay Calculator Test Bench</a:t>
            </a:r>
          </a:p>
        </p:txBody>
      </p:sp>
      <p:sp>
        <p:nvSpPr>
          <p:cNvPr id="3" name="Content Placeholder 2">
            <a:extLst>
              <a:ext uri="{FF2B5EF4-FFF2-40B4-BE49-F238E27FC236}">
                <a16:creationId xmlns:a16="http://schemas.microsoft.com/office/drawing/2014/main" id="{7F066559-C66A-C4FA-1AFB-262FBB409E8E}"/>
              </a:ext>
            </a:extLst>
          </p:cNvPr>
          <p:cNvSpPr>
            <a:spLocks noGrp="1"/>
          </p:cNvSpPr>
          <p:nvPr>
            <p:ph idx="1"/>
          </p:nvPr>
        </p:nvSpPr>
        <p:spPr/>
        <p:txBody>
          <a:bodyPr/>
          <a:lstStyle/>
          <a:p>
            <a:r>
              <a:rPr lang="en-IN" sz="2200" dirty="0"/>
              <a:t>The Delay Calculator produces the accurate RF index for each of the testing values. I made a simple </a:t>
            </a:r>
            <a:r>
              <a:rPr lang="en-IN" sz="2200" dirty="0" err="1"/>
              <a:t>matlab</a:t>
            </a:r>
            <a:r>
              <a:rPr lang="en-IN" sz="2200" dirty="0"/>
              <a:t> function that simulates the delay calculation based on the original code to cross-verify my Verilog test-bench values. I truncated the </a:t>
            </a:r>
            <a:r>
              <a:rPr lang="en-IN" sz="2200" dirty="0" err="1"/>
              <a:t>raw_index_float</a:t>
            </a:r>
            <a:r>
              <a:rPr lang="en-IN" sz="2200" dirty="0"/>
              <a:t> value, which is sliced from the integer part of my </a:t>
            </a:r>
            <a:r>
              <a:rPr lang="en-IN" sz="2200" dirty="0" err="1"/>
              <a:t>K_n_long</a:t>
            </a:r>
            <a:r>
              <a:rPr lang="en-IN" sz="2200" dirty="0"/>
              <a:t>, which is a signal that contains the calculations from the given formula in the MATLAB code.</a:t>
            </a:r>
            <a:endParaRPr lang="en-IN" dirty="0"/>
          </a:p>
          <a:p>
            <a:endParaRPr lang="en-IN" dirty="0"/>
          </a:p>
        </p:txBody>
      </p:sp>
      <p:pic>
        <p:nvPicPr>
          <p:cNvPr id="5" name="Picture 4">
            <a:extLst>
              <a:ext uri="{FF2B5EF4-FFF2-40B4-BE49-F238E27FC236}">
                <a16:creationId xmlns:a16="http://schemas.microsoft.com/office/drawing/2014/main" id="{6FA6E770-FEF5-1FE5-9738-0E0080C277B4}"/>
              </a:ext>
            </a:extLst>
          </p:cNvPr>
          <p:cNvPicPr>
            <a:picLocks noChangeAspect="1"/>
          </p:cNvPicPr>
          <p:nvPr/>
        </p:nvPicPr>
        <p:blipFill>
          <a:blip r:embed="rId2"/>
          <a:stretch>
            <a:fillRect/>
          </a:stretch>
        </p:blipFill>
        <p:spPr>
          <a:xfrm>
            <a:off x="948643" y="3429000"/>
            <a:ext cx="5588203" cy="1166042"/>
          </a:xfrm>
          <a:prstGeom prst="rect">
            <a:avLst/>
          </a:prstGeom>
        </p:spPr>
      </p:pic>
      <p:pic>
        <p:nvPicPr>
          <p:cNvPr id="7" name="Picture 6">
            <a:extLst>
              <a:ext uri="{FF2B5EF4-FFF2-40B4-BE49-F238E27FC236}">
                <a16:creationId xmlns:a16="http://schemas.microsoft.com/office/drawing/2014/main" id="{E6AF8E5F-567B-2DF0-B21F-A006D3953416}"/>
              </a:ext>
            </a:extLst>
          </p:cNvPr>
          <p:cNvPicPr>
            <a:picLocks noChangeAspect="1"/>
          </p:cNvPicPr>
          <p:nvPr/>
        </p:nvPicPr>
        <p:blipFill>
          <a:blip r:embed="rId3"/>
          <a:stretch>
            <a:fillRect/>
          </a:stretch>
        </p:blipFill>
        <p:spPr>
          <a:xfrm>
            <a:off x="6828421" y="3428999"/>
            <a:ext cx="2228114" cy="1178696"/>
          </a:xfrm>
          <a:prstGeom prst="rect">
            <a:avLst/>
          </a:prstGeom>
        </p:spPr>
      </p:pic>
      <p:pic>
        <p:nvPicPr>
          <p:cNvPr id="9" name="Picture 8">
            <a:extLst>
              <a:ext uri="{FF2B5EF4-FFF2-40B4-BE49-F238E27FC236}">
                <a16:creationId xmlns:a16="http://schemas.microsoft.com/office/drawing/2014/main" id="{5B15587E-63B6-831C-8242-02EF14EE9473}"/>
              </a:ext>
            </a:extLst>
          </p:cNvPr>
          <p:cNvPicPr>
            <a:picLocks noChangeAspect="1"/>
          </p:cNvPicPr>
          <p:nvPr/>
        </p:nvPicPr>
        <p:blipFill>
          <a:blip r:embed="rId4"/>
          <a:stretch>
            <a:fillRect/>
          </a:stretch>
        </p:blipFill>
        <p:spPr>
          <a:xfrm>
            <a:off x="948642" y="4707344"/>
            <a:ext cx="5588203" cy="1441679"/>
          </a:xfrm>
          <a:prstGeom prst="rect">
            <a:avLst/>
          </a:prstGeom>
        </p:spPr>
      </p:pic>
      <p:pic>
        <p:nvPicPr>
          <p:cNvPr id="11" name="Picture 10">
            <a:extLst>
              <a:ext uri="{FF2B5EF4-FFF2-40B4-BE49-F238E27FC236}">
                <a16:creationId xmlns:a16="http://schemas.microsoft.com/office/drawing/2014/main" id="{13C49BDC-3D63-6D62-5E9F-1349AAC74E00}"/>
              </a:ext>
            </a:extLst>
          </p:cNvPr>
          <p:cNvPicPr>
            <a:picLocks noChangeAspect="1"/>
          </p:cNvPicPr>
          <p:nvPr/>
        </p:nvPicPr>
        <p:blipFill>
          <a:blip r:embed="rId5"/>
          <a:stretch>
            <a:fillRect/>
          </a:stretch>
        </p:blipFill>
        <p:spPr>
          <a:xfrm>
            <a:off x="6828420" y="4742632"/>
            <a:ext cx="2278299" cy="1491073"/>
          </a:xfrm>
          <a:prstGeom prst="rect">
            <a:avLst/>
          </a:prstGeom>
        </p:spPr>
      </p:pic>
    </p:spTree>
    <p:extLst>
      <p:ext uri="{BB962C8B-B14F-4D97-AF65-F5344CB8AC3E}">
        <p14:creationId xmlns:p14="http://schemas.microsoft.com/office/powerpoint/2010/main" val="1853786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B1115-8539-BD3A-A0E2-F06CB1556E12}"/>
              </a:ext>
            </a:extLst>
          </p:cNvPr>
          <p:cNvSpPr>
            <a:spLocks noGrp="1"/>
          </p:cNvSpPr>
          <p:nvPr>
            <p:ph type="title"/>
          </p:nvPr>
        </p:nvSpPr>
        <p:spPr/>
        <p:txBody>
          <a:bodyPr/>
          <a:lstStyle/>
          <a:p>
            <a:pPr algn="ctr"/>
            <a:r>
              <a:rPr lang="en-IN" b="1" dirty="0"/>
              <a:t>Delay Calculator Synthesis &amp; Implementation</a:t>
            </a:r>
          </a:p>
        </p:txBody>
      </p:sp>
      <p:sp>
        <p:nvSpPr>
          <p:cNvPr id="3" name="Content Placeholder 2">
            <a:extLst>
              <a:ext uri="{FF2B5EF4-FFF2-40B4-BE49-F238E27FC236}">
                <a16:creationId xmlns:a16="http://schemas.microsoft.com/office/drawing/2014/main" id="{059251C5-02B0-53F2-4C45-13A04F68363B}"/>
              </a:ext>
            </a:extLst>
          </p:cNvPr>
          <p:cNvSpPr>
            <a:spLocks noGrp="1"/>
          </p:cNvSpPr>
          <p:nvPr>
            <p:ph idx="1"/>
          </p:nvPr>
        </p:nvSpPr>
        <p:spPr/>
        <p:txBody>
          <a:bodyPr/>
          <a:lstStyle/>
          <a:p>
            <a:r>
              <a:rPr lang="en-IN" sz="2000" dirty="0"/>
              <a:t>The Synthesis and implementation both of the Delay Calculator were successful. Here is the implemented design:</a:t>
            </a:r>
          </a:p>
          <a:p>
            <a:r>
              <a:rPr lang="en-IN" sz="2000" dirty="0"/>
              <a:t>The design uses </a:t>
            </a:r>
            <a:r>
              <a:rPr lang="en-IN" sz="2000" dirty="0" err="1"/>
              <a:t>uses</a:t>
            </a:r>
            <a:r>
              <a:rPr lang="en-IN" sz="2000" dirty="0"/>
              <a:t> 312 LUTs and 71 FFs with 91 I/O ports.</a:t>
            </a:r>
          </a:p>
          <a:p>
            <a:endParaRPr lang="en-IN" dirty="0"/>
          </a:p>
          <a:p>
            <a:endParaRPr lang="en-IN" dirty="0"/>
          </a:p>
        </p:txBody>
      </p:sp>
      <p:pic>
        <p:nvPicPr>
          <p:cNvPr id="6" name="Picture 5">
            <a:extLst>
              <a:ext uri="{FF2B5EF4-FFF2-40B4-BE49-F238E27FC236}">
                <a16:creationId xmlns:a16="http://schemas.microsoft.com/office/drawing/2014/main" id="{B6CF3552-D36C-D557-D925-861E4F63D907}"/>
              </a:ext>
            </a:extLst>
          </p:cNvPr>
          <p:cNvPicPr>
            <a:picLocks noChangeAspect="1"/>
          </p:cNvPicPr>
          <p:nvPr/>
        </p:nvPicPr>
        <p:blipFill>
          <a:blip r:embed="rId2"/>
          <a:stretch>
            <a:fillRect/>
          </a:stretch>
        </p:blipFill>
        <p:spPr>
          <a:xfrm>
            <a:off x="2589145" y="2977723"/>
            <a:ext cx="6459440" cy="3641343"/>
          </a:xfrm>
          <a:prstGeom prst="rect">
            <a:avLst/>
          </a:prstGeom>
        </p:spPr>
      </p:pic>
    </p:spTree>
    <p:extLst>
      <p:ext uri="{BB962C8B-B14F-4D97-AF65-F5344CB8AC3E}">
        <p14:creationId xmlns:p14="http://schemas.microsoft.com/office/powerpoint/2010/main" val="25385527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74BA9-374E-AAD7-9667-B0AB502410EF}"/>
              </a:ext>
            </a:extLst>
          </p:cNvPr>
          <p:cNvSpPr>
            <a:spLocks noGrp="1"/>
          </p:cNvSpPr>
          <p:nvPr>
            <p:ph type="title"/>
          </p:nvPr>
        </p:nvSpPr>
        <p:spPr/>
        <p:txBody>
          <a:bodyPr/>
          <a:lstStyle/>
          <a:p>
            <a:pPr algn="ctr"/>
            <a:r>
              <a:rPr lang="en-IN" b="1" dirty="0"/>
              <a:t>Beamforming Testing and Implementation</a:t>
            </a:r>
          </a:p>
        </p:txBody>
      </p:sp>
      <p:sp>
        <p:nvSpPr>
          <p:cNvPr id="3" name="Content Placeholder 2">
            <a:extLst>
              <a:ext uri="{FF2B5EF4-FFF2-40B4-BE49-F238E27FC236}">
                <a16:creationId xmlns:a16="http://schemas.microsoft.com/office/drawing/2014/main" id="{D6051193-8A75-5CEF-B6BA-5C8C8BE8FD53}"/>
              </a:ext>
            </a:extLst>
          </p:cNvPr>
          <p:cNvSpPr>
            <a:spLocks noGrp="1"/>
          </p:cNvSpPr>
          <p:nvPr>
            <p:ph idx="1"/>
          </p:nvPr>
        </p:nvSpPr>
        <p:spPr>
          <a:xfrm>
            <a:off x="838200" y="1825625"/>
            <a:ext cx="10515600" cy="1148163"/>
          </a:xfrm>
        </p:spPr>
        <p:txBody>
          <a:bodyPr/>
          <a:lstStyle/>
          <a:p>
            <a:r>
              <a:rPr lang="en-IN" sz="1600" dirty="0"/>
              <a:t>The Beamforming function produces 50 RF addresses and goes to retrieve sampled data from each of these addresses. This sampled data is then used to calculate the final pixel brightness of each pixel. It instantiates a Delay calculator to find the RF addresses, using the square root for distance calculations. The simulation results are shown below. Implementation was also successful, shown on the next slide.</a:t>
            </a:r>
            <a:endParaRPr lang="en-IN" dirty="0"/>
          </a:p>
        </p:txBody>
      </p:sp>
      <p:pic>
        <p:nvPicPr>
          <p:cNvPr id="1034" name="Picture 10">
            <a:extLst>
              <a:ext uri="{FF2B5EF4-FFF2-40B4-BE49-F238E27FC236}">
                <a16:creationId xmlns:a16="http://schemas.microsoft.com/office/drawing/2014/main" id="{6CE14AD4-263F-7EEB-4D27-A154988C54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89" y="2873529"/>
            <a:ext cx="4879817" cy="2557212"/>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95A80287-2D14-E4A9-419A-429EB863F2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1406" y="2873529"/>
            <a:ext cx="1778040" cy="33483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05005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9CE5F-4568-5DB3-F824-C50CE4BC917E}"/>
              </a:ext>
            </a:extLst>
          </p:cNvPr>
          <p:cNvSpPr>
            <a:spLocks noGrp="1"/>
          </p:cNvSpPr>
          <p:nvPr>
            <p:ph type="title"/>
          </p:nvPr>
        </p:nvSpPr>
        <p:spPr/>
        <p:txBody>
          <a:bodyPr/>
          <a:lstStyle/>
          <a:p>
            <a:pPr algn="ctr"/>
            <a:r>
              <a:rPr lang="en-US" b="1" dirty="0"/>
              <a:t>Beamforming Synthesis</a:t>
            </a:r>
            <a:br>
              <a:rPr lang="en-US" b="1" dirty="0"/>
            </a:br>
            <a:endParaRPr lang="en-IN" b="1" dirty="0"/>
          </a:p>
        </p:txBody>
      </p:sp>
      <p:pic>
        <p:nvPicPr>
          <p:cNvPr id="1026" name="Picture 2">
            <a:extLst>
              <a:ext uri="{FF2B5EF4-FFF2-40B4-BE49-F238E27FC236}">
                <a16:creationId xmlns:a16="http://schemas.microsoft.com/office/drawing/2014/main" id="{0C7A34CB-FE86-3DAD-621A-2AF7684AF40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5309668"/>
            <a:ext cx="10515600" cy="850022"/>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CEEE7105-8D97-9326-89F4-38ED4C7DC9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5256" y="2010246"/>
            <a:ext cx="6941487" cy="3159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8476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24F1C-E191-F85B-161F-F07160DDA7FD}"/>
              </a:ext>
            </a:extLst>
          </p:cNvPr>
          <p:cNvSpPr>
            <a:spLocks noGrp="1"/>
          </p:cNvSpPr>
          <p:nvPr>
            <p:ph type="title"/>
          </p:nvPr>
        </p:nvSpPr>
        <p:spPr/>
        <p:txBody>
          <a:bodyPr/>
          <a:lstStyle/>
          <a:p>
            <a:pPr algn="ctr"/>
            <a:r>
              <a:rPr lang="en-IN" b="1" dirty="0"/>
              <a:t>Future Plan</a:t>
            </a:r>
          </a:p>
        </p:txBody>
      </p:sp>
      <p:sp>
        <p:nvSpPr>
          <p:cNvPr id="3" name="Content Placeholder 2">
            <a:extLst>
              <a:ext uri="{FF2B5EF4-FFF2-40B4-BE49-F238E27FC236}">
                <a16:creationId xmlns:a16="http://schemas.microsoft.com/office/drawing/2014/main" id="{DD96125C-6F2D-375F-0B6B-73F7B6BB4DF7}"/>
              </a:ext>
            </a:extLst>
          </p:cNvPr>
          <p:cNvSpPr>
            <a:spLocks noGrp="1"/>
          </p:cNvSpPr>
          <p:nvPr>
            <p:ph idx="1"/>
          </p:nvPr>
        </p:nvSpPr>
        <p:spPr/>
        <p:txBody>
          <a:bodyPr/>
          <a:lstStyle/>
          <a:p>
            <a:r>
              <a:rPr lang="en-IN" dirty="0"/>
              <a:t>Integration with other modules to fit into the rest of the pipeline.</a:t>
            </a:r>
          </a:p>
          <a:p>
            <a:r>
              <a:rPr lang="en-IN" dirty="0"/>
              <a:t>Optimization of CORDIC square root, reducing no. of clock cycles used, and optimization of the beamforming function.</a:t>
            </a:r>
          </a:p>
          <a:p>
            <a:r>
              <a:rPr lang="en-IN" dirty="0"/>
              <a:t>Implementation of BRAM along with the modules to allow the data to be directly loaded and processed on the FPGA alone without the need for external devices. Or alternatively, implementing UART to connect to a host, performing calculations and returning values directly back to the host.</a:t>
            </a:r>
          </a:p>
          <a:p>
            <a:endParaRPr lang="en-IN" dirty="0"/>
          </a:p>
        </p:txBody>
      </p:sp>
    </p:spTree>
    <p:extLst>
      <p:ext uri="{BB962C8B-B14F-4D97-AF65-F5344CB8AC3E}">
        <p14:creationId xmlns:p14="http://schemas.microsoft.com/office/powerpoint/2010/main" val="17342537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C8BBC-9CB9-452A-90F2-4F0C6E0027D2}"/>
              </a:ext>
            </a:extLst>
          </p:cNvPr>
          <p:cNvSpPr>
            <a:spLocks noGrp="1"/>
          </p:cNvSpPr>
          <p:nvPr>
            <p:ph type="title"/>
          </p:nvPr>
        </p:nvSpPr>
        <p:spPr>
          <a:xfrm>
            <a:off x="838200" y="2806077"/>
            <a:ext cx="10515600" cy="1245845"/>
          </a:xfrm>
        </p:spPr>
        <p:txBody>
          <a:bodyPr>
            <a:noAutofit/>
          </a:bodyPr>
          <a:lstStyle/>
          <a:p>
            <a:pPr algn="ctr"/>
            <a:r>
              <a:rPr lang="en-IN" sz="9600" b="1" dirty="0"/>
              <a:t>Thank You!</a:t>
            </a:r>
          </a:p>
        </p:txBody>
      </p:sp>
      <p:sp>
        <p:nvSpPr>
          <p:cNvPr id="3" name="Content Placeholder 2">
            <a:extLst>
              <a:ext uri="{FF2B5EF4-FFF2-40B4-BE49-F238E27FC236}">
                <a16:creationId xmlns:a16="http://schemas.microsoft.com/office/drawing/2014/main" id="{15683612-2360-A4BE-761B-57CC501BA9FA}"/>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22346444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594</TotalTime>
  <Words>994</Words>
  <Application>Microsoft Office PowerPoint</Application>
  <PresentationFormat>Widescreen</PresentationFormat>
  <Paragraphs>41</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Progress on the FPGA Implementation project</vt:lpstr>
      <vt:lpstr>My Work</vt:lpstr>
      <vt:lpstr>Weekly Progress Timeline</vt:lpstr>
      <vt:lpstr>Testbench values of CORDIC sqrt function:</vt:lpstr>
      <vt:lpstr>Synthesis &amp; Implementation</vt:lpstr>
      <vt:lpstr>Beamforming Function</vt:lpstr>
      <vt:lpstr>Delay Calculator Test Bench</vt:lpstr>
      <vt:lpstr>Delay Calculator Synthesis &amp; Implementation</vt:lpstr>
      <vt:lpstr>Beamforming Testing and Implementation</vt:lpstr>
      <vt:lpstr>Beamforming Synthesis </vt:lpstr>
      <vt:lpstr>Future Plan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Carter Hall</dc:creator>
  <cp:lastModifiedBy>Carter Hall</cp:lastModifiedBy>
  <cp:revision>14</cp:revision>
  <dcterms:created xsi:type="dcterms:W3CDTF">2026-02-12T16:58:53Z</dcterms:created>
  <dcterms:modified xsi:type="dcterms:W3CDTF">2026-04-17T07:42:00Z</dcterms:modified>
</cp:coreProperties>
</file>